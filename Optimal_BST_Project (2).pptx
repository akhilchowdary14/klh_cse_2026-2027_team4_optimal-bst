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Optimal Binary Search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sz="1600"/>
              <a:t>1. Name: Akhil Chowdary, Roll No: 2520030507</a:t>
            </a:r>
          </a:p>
          <a:p>
            <a:r>
              <a:rPr sz="1600"/>
              <a:t>2. Name: S.Sri Sai Pradyumn, Roll No: 2520030595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DSA-3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An Optimal Binary Search Tree (OBST) arranges a set of distinct keys so that the average search cost, weighted by known access frequencies, is as low as possible.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Frequently searched keys are placed closer to the root while rarely searched keys sit deeper, unlike a plain balanced BST which ignores frequency altogether.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The system takes a set of keys and their search frequencies as input and constructs the tree using an interval dynamic programming formulation.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It computes the optimal cost table, reconstructs the resulting tree structure, and reports the final expected search cost.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The approach runs in O(n³) time and assumes distinct keys only.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 Binary Search Tree (BST) supports fast search, insert, and delete, but its performance depends heavily on its shape.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When keys are accessed with very different frequencies — dictionary words, compiler symbol tables, routing keys — a balanced BST is not necessarily the fastest on average.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The Optimal BST problem asks: given n keys and their frequencies, how should the tree be shaped to minimize the total frequency-weighted search cost?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This is a classic dynamic programming problem: optimal trees for smaller key intervals are combined to build optimal trees for larger intervals, avoiding repeated work.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This project builds a tool that automates this construction and displays the resulting tree along with its expected search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b="1" sz="1700">
                <a:solidFill>
                  <a:srgbClr val="C00000"/>
                </a:solidFill>
                <a:latin typeface="Calibri"/>
              </a:rPr>
              <a:t>Knuth (1971): </a:t>
            </a:r>
            <a:r>
              <a:rPr sz="1700">
                <a:solidFill>
                  <a:srgbClr val="000000"/>
                </a:solidFill>
                <a:latin typeface="Calibri"/>
              </a:rPr>
              <a:t>proposed the original O(n³) dynamic programming algorithm for OBST, later improved to O(n²) using the monotonicity of optimal split points.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b="1" sz="1700">
                <a:solidFill>
                  <a:srgbClr val="C00000"/>
                </a:solidFill>
                <a:latin typeface="Calibri"/>
              </a:rPr>
              <a:t>Mehlhorn: </a:t>
            </a:r>
            <a:r>
              <a:rPr sz="1700">
                <a:solidFill>
                  <a:srgbClr val="000000"/>
                </a:solidFill>
                <a:latin typeface="Calibri"/>
              </a:rPr>
              <a:t>introduced nearly-optimal BST heuristics that approximate Knuth's optimal cost within a small constant factor, at lower computational cost.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b="1" sz="1700">
                <a:solidFill>
                  <a:srgbClr val="C00000"/>
                </a:solidFill>
                <a:latin typeface="Calibri"/>
              </a:rPr>
              <a:t>Cormen et al. (CLRS): </a:t>
            </a:r>
            <a:r>
              <a:rPr sz="1700">
                <a:solidFill>
                  <a:srgbClr val="000000"/>
                </a:solidFill>
                <a:latin typeface="Calibri"/>
              </a:rPr>
              <a:t>present OBST as a canonical interval DP problem, alongside matrix-chain multiplication, in “Introduction to Algorithms.”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b="1" sz="1700">
                <a:solidFill>
                  <a:srgbClr val="C00000"/>
                </a:solidFill>
                <a:latin typeface="Calibri"/>
              </a:rPr>
              <a:t>Self-balancing trees: </a:t>
            </a:r>
            <a:r>
              <a:rPr sz="1700">
                <a:solidFill>
                  <a:srgbClr val="000000"/>
                </a:solidFill>
                <a:latin typeface="Calibri"/>
              </a:rPr>
              <a:t>AVL and Red-Black trees optimize worst-case height but ignore access frequency; splay trees adapt dynamically but give no globally optimal static layout.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b="1" sz="1700">
                <a:solidFill>
                  <a:srgbClr val="C00000"/>
                </a:solidFill>
                <a:latin typeface="Calibri"/>
              </a:rPr>
              <a:t>This project: </a:t>
            </a:r>
            <a:r>
              <a:rPr sz="1700">
                <a:solidFill>
                  <a:srgbClr val="000000"/>
                </a:solidFill>
                <a:latin typeface="Calibri"/>
              </a:rPr>
              <a:t>follows the standard O(n³) interval DP formulation to compute the exact optimal cost and tree.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Calibri"/>
              </a:rPr>
              <a:t>Problem Statement</a:t>
            </a:r>
          </a:p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Calibri"/>
              </a:rPr>
              <a:t>Given n distinct keys k₁ &lt; k₂ &lt; … &lt; kₙ with known search frequencies f₁, f₂, …, fₙ, construct a BST that minimizes the total expected search cost Σ (fᵢ × depthᵢ), where the root is at depth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0000"/>
            <a:ext cx="108204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Accept a set of distinct keys and their corresponding search frequencies as input.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Apply interval dynamic programming to compute the minimum-cost BST for every sub-range of keys.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Determine the optimal root for each interval and reconstruct the full optimal tree.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Display the constructed tree structure and report the final expected search cost.</a:t>
            </a:r>
          </a:p>
          <a:p>
            <a:pPr algn="l" marL="285750" indent="-285750">
              <a:lnSpc>
                <a:spcPct val="12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Validate that input keys are distinct, since the DP formulation assumes no duplicates.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Oval 3"/>
          <p:cNvSpPr/>
          <p:nvPr/>
        </p:nvSpPr>
        <p:spPr>
          <a:xfrm>
            <a:off x="4571000" y="880000"/>
            <a:ext cx="3050000" cy="42000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000" y="141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 distinct keys and their
search frequencies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000" y="202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Initialize cost[i][i] = freq[i]
for every single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000" y="263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For increasing interval length,
compute cost[i][j] over all roots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1000" y="324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Record the optimal root for
each interval [i, j]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1000" y="385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Reconstruct the optimal tree
from the root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000" y="4460000"/>
            <a:ext cx="3050000" cy="50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Display tree and report the
expected search cost</a:t>
            </a:r>
          </a:p>
        </p:txBody>
      </p:sp>
      <p:sp>
        <p:nvSpPr>
          <p:cNvPr id="11" name="Oval 10"/>
          <p:cNvSpPr/>
          <p:nvPr/>
        </p:nvSpPr>
        <p:spPr>
          <a:xfrm>
            <a:off x="4571000" y="5070000"/>
            <a:ext cx="3050000" cy="42000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8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130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6000" y="191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6000" y="252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6000" y="313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6000" y="374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6000" y="435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6000" y="4960000"/>
            <a:ext cx="0" cy="110000"/>
          </a:xfrm>
          <a:prstGeom prst="line">
            <a:avLst/>
          </a:prstGeom>
          <a:ln w="25400">
            <a:solidFill>
              <a:srgbClr val="8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0000"/>
                </a:solidFill>
                <a:latin typeface="Calibri"/>
              </a:rPr>
              <a:t>Example: 4 keys with the following search frequencies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0000"/>
          <a:ext cx="6400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00"/>
                <a:gridCol w="1280000"/>
                <a:gridCol w="1280000"/>
                <a:gridCol w="1280000"/>
                <a:gridCol w="1280000"/>
              </a:tblGrid>
              <a:tr h="450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 (10)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 (20)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 (30)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 (40)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5E1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E1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E1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E1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E1D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2600000"/>
            <a:ext cx="108204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The DP table gives a minimum total weighted search cost of 26 (sum of frequencies = 15).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Optimal tree: root C (30) — left child A (10) with right sub-child B (20); right child D (40).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Depths: C at 1, A and D at 2, B at 3 → cost = 6(1)+4(2)+3(2)+2(3) = 26.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Average search cost = 26 / 15 ≈ 1.73 comparisons per search, lower than a frequency-blind balanced tree on the same keys.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050000"/>
            <a:ext cx="5200000" cy="4800000"/>
          </a:xfrm>
          <a:prstGeom prst="roundRect">
            <a:avLst/>
          </a:prstGeom>
          <a:solidFill>
            <a:srgbClr val="FBF3F1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0000" rIns="180000" tIns="180000"/>
          <a:lstStyle/>
          <a:p>
            <a:pPr algn="ctr"/>
            <a:r>
              <a:rPr b="1" sz="1900">
                <a:solidFill>
                  <a:srgbClr val="C00000"/>
                </a:solidFill>
                <a:latin typeface="Calibri"/>
              </a:rPr>
              <a:t>Hardware Requirements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Standard PC or laptop (no special hardware needed)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Processor: any modern multi-core CPU (Intel i3 / equivalent or higher)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RAM: 4 GB minimum, 8 GB recommended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Storage: under 100 MB for the project and its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5800" y="1050000"/>
            <a:ext cx="5200000" cy="4800000"/>
          </a:xfrm>
          <a:prstGeom prst="roundRect">
            <a:avLst/>
          </a:prstGeom>
          <a:solidFill>
            <a:srgbClr val="FBF3F1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0000" rIns="180000" tIns="180000"/>
          <a:lstStyle/>
          <a:p>
            <a:pPr algn="ctr"/>
            <a:r>
              <a:rPr b="1" sz="1900">
                <a:solidFill>
                  <a:srgbClr val="C00000"/>
                </a:solidFill>
                <a:latin typeface="Calibri"/>
              </a:rPr>
              <a:t>Software Requirements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Programming language: Python / Java / C++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IDE or editor: VS Code, PyCharm, or Eclipse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Operating System: Windows, Linux, or macOS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Optional: Matplotlib or Graphviz for tree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000"/>
            <a:ext cx="108204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Successfully designed and implemented an algorithm that constructs the Optimal Binary Search Tree for a given set of distinct keys and their search frequencies.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Used interval dynamic programming to compute the minimum expected search cost in O(n³) time, filling cost and root tables for every key range.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The tool displays the resulting optimal tree structure and reports the expected/average search cost, verified against manual computation on a sample input.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Confirms that frequency-aware tree construction can noticeably reduce average search cost compared to a frequency-blind balanced BST on the same keys.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000"/>
            <a:ext cx="108204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Implement Knuth's O(n²) optimization, which uses the monotonicity of optimal roots to speed up construction for larger key sets.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Extend the model to include unsuccessful-search (dummy key) frequencies, matching the general OBST formulation.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Support dynamic updates (insertions/deletions) by drawing on ideas from weighted or self-adjusting trees such as splay trees.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Add an interactive graphical visualization (e.g., using Graphviz) to render the constructed tree.</a:t>
            </a:r>
          </a:p>
          <a:p>
            <a:pPr algn="l" marL="285750" indent="-28575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Apply the technique to real frequency-driven lookup systems, such as compiler symbol tables or dictionary/autocomplete engines.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